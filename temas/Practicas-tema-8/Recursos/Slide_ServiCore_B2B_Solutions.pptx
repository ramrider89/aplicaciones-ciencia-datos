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 ExtraBold"/>
      <p:bold r:id="rId7"/>
      <p:boldItalic r:id="rId8"/>
    </p:embeddedFont>
    <p:embeddedFont>
      <p:font typeface="Roboto Black"/>
      <p:bold r:id="rId9"/>
      <p:boldItalic r:id="rId10"/>
    </p:embeddedFont>
    <p:embeddedFont>
      <p:font typeface="Roboto Medium"/>
      <p:regular r:id="rId11"/>
      <p:bold r:id="rId12"/>
      <p:italic r:id="rId13"/>
      <p:boldItalic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Roboto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RobotoMedium-italic.fntdata"/><Relationship Id="rId18" Type="http://schemas.openxmlformats.org/officeDocument/2006/relationships/font" Target="fonts/Roboto-boldItalic.fntdata"/><Relationship Id="rId8" Type="http://schemas.openxmlformats.org/officeDocument/2006/relationships/font" Target="fonts/RobotoExtraBold-boldItalic.fntdata"/><Relationship Id="rId21" Type="http://schemas.openxmlformats.org/officeDocument/2006/relationships/font" Target="fonts/RobotoSemiBold-italic.fntdata"/><Relationship Id="rId3" Type="http://schemas.openxmlformats.org/officeDocument/2006/relationships/presProps" Target="presProps.xml"/><Relationship Id="rId12" Type="http://schemas.openxmlformats.org/officeDocument/2006/relationships/font" Target="fonts/RobotoMedium-bold.fntdata"/><Relationship Id="rId17" Type="http://schemas.openxmlformats.org/officeDocument/2006/relationships/font" Target="fonts/Roboto-italic.fntdata"/><Relationship Id="rId7" Type="http://schemas.openxmlformats.org/officeDocument/2006/relationships/font" Target="fonts/RobotoExtraBold-bold.fntdata"/><Relationship Id="rId25" Type="http://schemas.openxmlformats.org/officeDocument/2006/relationships/customXml" Target="../customXml/item3.xml"/><Relationship Id="rId20" Type="http://schemas.openxmlformats.org/officeDocument/2006/relationships/font" Target="fonts/RobotoSemiBold-bold.fntdata"/><Relationship Id="rId2" Type="http://schemas.openxmlformats.org/officeDocument/2006/relationships/viewProps" Target="viewProps.xml"/><Relationship Id="rId16" Type="http://schemas.openxmlformats.org/officeDocument/2006/relationships/font" Target="fonts/Roboto-bold.fntdata"/><Relationship Id="rId11" Type="http://schemas.openxmlformats.org/officeDocument/2006/relationships/font" Target="fonts/RobotoMedium-regular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24" Type="http://schemas.openxmlformats.org/officeDocument/2006/relationships/customXml" Target="../customXml/item2.xml"/><Relationship Id="rId15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23" Type="http://schemas.openxmlformats.org/officeDocument/2006/relationships/customXml" Target="../customXml/item1.xml"/><Relationship Id="rId10" Type="http://schemas.openxmlformats.org/officeDocument/2006/relationships/font" Target="fonts/RobotoBlack-boldItalic.fntdata"/><Relationship Id="rId19" Type="http://schemas.openxmlformats.org/officeDocument/2006/relationships/font" Target="fonts/RobotoSemiBold-regular.fntdata"/><Relationship Id="rId22" Type="http://schemas.openxmlformats.org/officeDocument/2006/relationships/font" Target="fonts/RobotoSemiBold-boldItalic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RobotoBlack-bold.fntdata"/><Relationship Id="rId14" Type="http://schemas.openxmlformats.org/officeDocument/2006/relationships/font" Target="fonts/Roboto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50850" y="0"/>
            <a:ext cx="63492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ServiCore </a:t>
            </a:r>
            <a:r>
              <a:rPr i="1" lang="es" sz="16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rPr>
              <a:t>B2B </a:t>
            </a:r>
            <a:r>
              <a:rPr i="1" lang="es" sz="16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Solutions</a:t>
            </a:r>
            <a:endParaRPr sz="16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Riesgo de abandono y priorización de clientes</a:t>
            </a:r>
            <a:endParaRPr sz="11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727775"/>
            <a:ext cx="9144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latin typeface="Roboto SemiBold"/>
                <a:ea typeface="Roboto SemiBold"/>
                <a:cs typeface="Roboto SemiBold"/>
                <a:sym typeface="Roboto SemiBold"/>
              </a:rPr>
              <a:t>“</a:t>
            </a:r>
            <a:r>
              <a:rPr lang="es" sz="2700">
                <a:solidFill>
                  <a:srgbClr val="FF0000"/>
                </a:solidFill>
                <a:latin typeface="Roboto Black"/>
                <a:ea typeface="Roboto Black"/>
                <a:cs typeface="Roboto Black"/>
                <a:sym typeface="Roboto Black"/>
              </a:rPr>
              <a:t>117</a:t>
            </a:r>
            <a:r>
              <a:rPr lang="es" sz="2200">
                <a:solidFill>
                  <a:srgbClr val="FF0000"/>
                </a:solidFill>
                <a:latin typeface="Roboto Black"/>
                <a:ea typeface="Roboto Black"/>
                <a:cs typeface="Roboto Black"/>
                <a:sym typeface="Roboto Black"/>
              </a:rPr>
              <a:t> clientes</a:t>
            </a:r>
            <a:r>
              <a:rPr lang="es" sz="2200">
                <a:latin typeface="Roboto SemiBold"/>
                <a:ea typeface="Roboto SemiBold"/>
                <a:cs typeface="Roboto SemiBold"/>
                <a:sym typeface="Roboto SemiBold"/>
              </a:rPr>
              <a:t> concentran un impacto potencial de </a:t>
            </a:r>
            <a:r>
              <a:rPr lang="es" sz="2700">
                <a:solidFill>
                  <a:srgbClr val="FF0000"/>
                </a:solidFill>
                <a:latin typeface="Roboto Black"/>
                <a:ea typeface="Roboto Black"/>
                <a:cs typeface="Roboto Black"/>
                <a:sym typeface="Roboto Black"/>
              </a:rPr>
              <a:t>1.17 M USD</a:t>
            </a:r>
            <a:r>
              <a:rPr lang="es" sz="2200">
                <a:latin typeface="Roboto SemiBold"/>
                <a:ea typeface="Roboto SemiBold"/>
                <a:cs typeface="Roboto SemiBold"/>
                <a:sym typeface="Roboto SemiBold"/>
              </a:rPr>
              <a:t> en ingresos recurrentes.”</a:t>
            </a:r>
            <a:endParaRPr sz="22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 flipH="1" rot="10800000">
            <a:off x="194675" y="609425"/>
            <a:ext cx="8792400" cy="14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717975" y="2175713"/>
            <a:ext cx="3736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117 clientes</a:t>
            </a:r>
            <a:r>
              <a:rPr lang="es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con prioridad alta</a:t>
            </a:r>
            <a:br>
              <a:rPr lang="es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endParaRPr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1.17 M USD</a:t>
            </a:r>
            <a:r>
              <a:rPr lang="es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en ingresos comprometidos</a:t>
            </a:r>
            <a:br>
              <a:rPr lang="es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endParaRPr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Riesgo </a:t>
            </a:r>
            <a:r>
              <a:rPr lang="es">
                <a:solidFill>
                  <a:schemeClr val="accen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no uniforme</a:t>
            </a:r>
            <a:r>
              <a:rPr lang="es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en la cartera</a:t>
            </a:r>
            <a:endParaRPr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58" name="Google Shape;58;p13" title="bullet_clientes_G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75" y="2075812"/>
            <a:ext cx="426250" cy="42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bullet_USD_Gslid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675" y="2763912"/>
            <a:ext cx="426250" cy="42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bullet_RISK_Gslid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75" y="3452013"/>
            <a:ext cx="426250" cy="42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0" y="4287300"/>
            <a:ext cx="9144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latin typeface="Roboto Medium"/>
                <a:ea typeface="Roboto Medium"/>
                <a:cs typeface="Roboto Medium"/>
                <a:sym typeface="Roboto Medium"/>
              </a:rPr>
              <a:t>“ </a:t>
            </a:r>
            <a:r>
              <a:rPr lang="es" sz="1900">
                <a:latin typeface="Roboto Medium"/>
                <a:ea typeface="Roboto Medium"/>
                <a:cs typeface="Roboto Medium"/>
                <a:sym typeface="Roboto Medium"/>
              </a:rPr>
              <a:t>Priorizar acciones de </a:t>
            </a:r>
            <a:r>
              <a:rPr b="1" lang="es" sz="19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retención </a:t>
            </a:r>
            <a:r>
              <a:rPr lang="es" sz="1900">
                <a:latin typeface="Roboto Medium"/>
                <a:ea typeface="Roboto Medium"/>
                <a:cs typeface="Roboto Medium"/>
                <a:sym typeface="Roboto Medium"/>
              </a:rPr>
              <a:t>personalizadas en </a:t>
            </a:r>
            <a:r>
              <a:rPr b="1" lang="es" sz="19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clientes críticos</a:t>
            </a:r>
            <a:r>
              <a:rPr lang="es" sz="1900">
                <a:latin typeface="Roboto Medium"/>
                <a:ea typeface="Roboto Medium"/>
                <a:cs typeface="Roboto Medium"/>
                <a:sym typeface="Roboto Medium"/>
              </a:rPr>
              <a:t> y aplicar </a:t>
            </a:r>
            <a:r>
              <a:rPr b="1" lang="es" sz="1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estrategias preventivas</a:t>
            </a:r>
            <a:r>
              <a:rPr lang="es" sz="1900">
                <a:latin typeface="Roboto Medium"/>
                <a:ea typeface="Roboto Medium"/>
                <a:cs typeface="Roboto Medium"/>
                <a:sym typeface="Roboto Medium"/>
              </a:rPr>
              <a:t> escalables en el resto de la cartera.”</a:t>
            </a:r>
            <a:endParaRPr sz="1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4775" y="1666775"/>
            <a:ext cx="4110046" cy="2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77EA3A923806D4D99165FCAED682853" ma:contentTypeVersion="10" ma:contentTypeDescription="Crear nuevo documento." ma:contentTypeScope="" ma:versionID="37d2e6c02ebcd3ee6e956a5f734119bd">
  <xsd:schema xmlns:xsd="http://www.w3.org/2001/XMLSchema" xmlns:xs="http://www.w3.org/2001/XMLSchema" xmlns:p="http://schemas.microsoft.com/office/2006/metadata/properties" xmlns:ns2="26e38031-abff-4b34-ab6d-8f46e115622f" xmlns:ns3="1216b406-2da9-4854-b78e-21e32b05e985" targetNamespace="http://schemas.microsoft.com/office/2006/metadata/properties" ma:root="true" ma:fieldsID="cb2b0f3c2e6a7ce352581b13ffb6f5b7" ns2:_="" ns3:_="">
    <xsd:import namespace="26e38031-abff-4b34-ab6d-8f46e115622f"/>
    <xsd:import namespace="1216b406-2da9-4854-b78e-21e32b05e9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e38031-abff-4b34-ab6d-8f46e11562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13c8208e-38ef-4023-9a11-45f5d269fb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16b406-2da9-4854-b78e-21e32b05e98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c65b01-eb56-49ac-9a83-0b291ce18b22}" ma:internalName="TaxCatchAll" ma:showField="CatchAllData" ma:web="1216b406-2da9-4854-b78e-21e32b05e9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e38031-abff-4b34-ab6d-8f46e115622f">
      <Terms xmlns="http://schemas.microsoft.com/office/infopath/2007/PartnerControls"/>
    </lcf76f155ced4ddcb4097134ff3c332f>
    <TaxCatchAll xmlns="1216b406-2da9-4854-b78e-21e32b05e985" xsi:nil="true"/>
  </documentManagement>
</p:properties>
</file>

<file path=customXml/itemProps1.xml><?xml version="1.0" encoding="utf-8"?>
<ds:datastoreItem xmlns:ds="http://schemas.openxmlformats.org/officeDocument/2006/customXml" ds:itemID="{6394FB3E-7AE6-4CCB-A01B-BDDCE9100D5B}"/>
</file>

<file path=customXml/itemProps2.xml><?xml version="1.0" encoding="utf-8"?>
<ds:datastoreItem xmlns:ds="http://schemas.openxmlformats.org/officeDocument/2006/customXml" ds:itemID="{8420F380-6A31-4D93-B5C5-4192F2EC700D}"/>
</file>

<file path=customXml/itemProps3.xml><?xml version="1.0" encoding="utf-8"?>
<ds:datastoreItem xmlns:ds="http://schemas.openxmlformats.org/officeDocument/2006/customXml" ds:itemID="{E0926C77-1CB7-4A4C-AAD6-AE8F21E74387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0x010100A77EA3A923806D4D99165FCAED682853</vt:lpwstr>
  </property>
</Properties>
</file>